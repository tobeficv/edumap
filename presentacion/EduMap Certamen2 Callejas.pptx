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noFill/>
          <a:ln>
            <a:solidFill>
              <a:srgbClr val="454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-457200"/>
            <a:ext cx="2194560" cy="2194560"/>
          </a:xfrm>
          <a:prstGeom prst="ellipse">
            <a:avLst/>
          </a:prstGeom>
          <a:noFill/>
          <a:ln>
            <a:solidFill>
              <a:srgbClr val="454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A6432A"/>
                </a:solidFill>
                <a:latin typeface="Calibri"/>
              </a:rPr>
              <a:t>T A L L E R   D E   V I S U A L I Z A C I Ó N   D E   D A T O S     ·     C E R T A M E N   N . º   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00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6600" b="1">
                <a:solidFill>
                  <a:srgbClr val="F7F4EC"/>
                </a:solidFill>
                <a:latin typeface="Georgia"/>
              </a:rPr>
              <a:t>EduMap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00000"/>
            <a:ext cx="9500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s-CL" sz="2100" b="0" dirty="0">
                <a:solidFill>
                  <a:srgbClr val="B9AE9C"/>
                </a:solidFill>
                <a:latin typeface="Georgia"/>
              </a:rPr>
              <a:t>Un análisis a la m</a:t>
            </a:r>
            <a:r>
              <a:rPr sz="2100" b="0" dirty="0" err="1">
                <a:solidFill>
                  <a:srgbClr val="B9AE9C"/>
                </a:solidFill>
                <a:latin typeface="Georgia"/>
              </a:rPr>
              <a:t>atrícula</a:t>
            </a:r>
            <a:r>
              <a:rPr sz="2100" b="0" dirty="0">
                <a:solidFill>
                  <a:srgbClr val="B9AE9C"/>
                </a:solidFill>
                <a:latin typeface="Georgia"/>
              </a:rPr>
              <a:t> escolar </a:t>
            </a:r>
            <a:r>
              <a:rPr sz="2100" b="0" dirty="0" err="1">
                <a:solidFill>
                  <a:srgbClr val="B9AE9C"/>
                </a:solidFill>
                <a:latin typeface="Georgia"/>
              </a:rPr>
              <a:t>en</a:t>
            </a:r>
            <a:r>
              <a:rPr sz="2100" b="0" dirty="0">
                <a:solidFill>
                  <a:srgbClr val="B9AE9C"/>
                </a:solidFill>
                <a:latin typeface="Georgia"/>
              </a:rPr>
              <a:t> 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806440"/>
            <a:ext cx="10911535" cy="12700"/>
          </a:xfrm>
          <a:prstGeom prst="rect">
            <a:avLst/>
          </a:prstGeom>
          <a:solidFill>
            <a:srgbClr val="45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7F4EC"/>
                </a:solidFill>
                <a:latin typeface="Calibri"/>
              </a:rPr>
              <a:t>Felipe Callejas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B9AE9C"/>
                </a:solidFill>
                <a:latin typeface="Calibri"/>
              </a:rPr>
              <a:t>Profesor: Cristián García G.  ·  UDD 2026-2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P r e s e n t a c i ó n   d e l   p r o y e c t 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22211D"/>
                </a:solidFill>
                <a:latin typeface="Georgia"/>
              </a:rPr>
              <a:t>Contexto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02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911535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A6432A"/>
                </a:solidFill>
                <a:latin typeface="Calibri"/>
              </a:rPr>
              <a:t>— </a:t>
            </a:r>
            <a:r>
              <a:rPr sz="1900" b="0">
                <a:solidFill>
                  <a:srgbClr val="22211D"/>
                </a:solidFill>
                <a:latin typeface="Calibri"/>
              </a:rPr>
              <a:t>La matrícula de la educación municipal en Chile viene cayendo hace años y, al mismo tiempo, los colegios se traspasan a los nuevos Servicios Locales de Educación Pública (SLEP).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A6432A"/>
                </a:solidFill>
                <a:latin typeface="Calibri"/>
              </a:rPr>
              <a:t>— </a:t>
            </a:r>
            <a:r>
              <a:rPr sz="1900" b="0">
                <a:solidFill>
                  <a:srgbClr val="22211D"/>
                </a:solidFill>
                <a:latin typeface="Calibri"/>
              </a:rPr>
              <a:t>Los datos oficiales del Mineduc existen, pero vienen en planillas enormes (más de 70 columnas, un archivo por año) que cuesta leer.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A6432A"/>
                </a:solidFill>
                <a:latin typeface="Calibri"/>
              </a:rPr>
              <a:t>— </a:t>
            </a:r>
            <a:r>
              <a:rPr sz="1900" b="0">
                <a:solidFill>
                  <a:srgbClr val="22211D"/>
                </a:solidFill>
                <a:latin typeface="Calibri"/>
              </a:rPr>
              <a:t>En el Certamen 1 hicimos el análisis exploratorio en Python. Ahora lo llevamos a una aplicación web en Django que cualquiera puede recorrer desde un menú.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A6432A"/>
                </a:solidFill>
                <a:latin typeface="Calibri"/>
              </a:rPr>
              <a:t>— </a:t>
            </a:r>
            <a:r>
              <a:rPr sz="1900" b="0">
                <a:solidFill>
                  <a:srgbClr val="22211D"/>
                </a:solidFill>
                <a:latin typeface="Calibri"/>
              </a:rPr>
              <a:t>Datos usados: Resumen de Matrícula por Establecimiento 2019–2025, resumidos por año, región, comuna y dependencia.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P r e s e n t a c i ó n   d e l   p r o y e c t 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22211D"/>
                </a:solidFill>
                <a:latin typeface="Georgia"/>
              </a:rPr>
              <a:t>Cómo está armado el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03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911535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A6432A"/>
                </a:solidFill>
                <a:latin typeface="Calibri"/>
              </a:rPr>
              <a:t>— </a:t>
            </a:r>
            <a:r>
              <a:rPr sz="1800" b="0">
                <a:solidFill>
                  <a:srgbClr val="22211D"/>
                </a:solidFill>
                <a:latin typeface="Calibri"/>
              </a:rPr>
              <a:t>Proyecto Django «edumap» con una app «matricula». Cada página tiene su ruta en urls.py y su vista en views.py.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A6432A"/>
                </a:solidFill>
                <a:latin typeface="Calibri"/>
              </a:rPr>
              <a:t>— </a:t>
            </a:r>
            <a:r>
              <a:rPr sz="1800" b="0">
                <a:solidFill>
                  <a:srgbClr val="22211D"/>
                </a:solidFill>
                <a:latin typeface="Calibri"/>
              </a:rPr>
              <a:t>Cada vista lee el CSV con pandas, calcula la tabla o dibuja el gráfico con Matplotlib y lo envía a la plantilla HTML en el contexto de render().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A6432A"/>
                </a:solidFill>
                <a:latin typeface="Calibri"/>
              </a:rPr>
              <a:t>— </a:t>
            </a:r>
            <a:r>
              <a:rPr sz="1800" b="0">
                <a:solidFill>
                  <a:srgbClr val="22211D"/>
                </a:solidFill>
                <a:latin typeface="Calibri"/>
              </a:rPr>
              <a:t>Las plantillas heredan de base.html (Bootstrap) e incluyen menu.html, así el menú aparece en todas las páginas.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A6432A"/>
                </a:solidFill>
                <a:latin typeface="Calibri"/>
              </a:rPr>
              <a:t>— </a:t>
            </a:r>
            <a:r>
              <a:rPr sz="1800" b="0">
                <a:solidFill>
                  <a:srgbClr val="22211D"/>
                </a:solidFill>
                <a:latin typeface="Calibri"/>
              </a:rPr>
              <a:t>Código en GitHub: github.com/tobeficv/edumap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C ó d i g 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Ejemplo: una URL y su vista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04  / 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4343400" cy="777240"/>
          </a:xfrm>
          <a:prstGeom prst="rect">
            <a:avLst/>
          </a:prstGeom>
          <a:solidFill>
            <a:srgbClr val="20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00784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98B6F"/>
                </a:solidFill>
                <a:latin typeface="Calibri"/>
              </a:rPr>
              <a:t>edumap/urls.py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75104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7F4EC"/>
                </a:solidFill>
                <a:latin typeface="Consolas"/>
              </a:rPr>
              <a:t>path("matricula/", include("matricula.urls")),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87752"/>
            <a:ext cx="4343400" cy="777240"/>
          </a:xfrm>
          <a:prstGeom prst="rect">
            <a:avLst/>
          </a:prstGeom>
          <a:solidFill>
            <a:srgbClr val="20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60904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98B6F"/>
                </a:solidFill>
                <a:latin typeface="Calibri"/>
              </a:rPr>
              <a:t>matricula/urls.py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35224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7F4EC"/>
                </a:solidFill>
                <a:latin typeface="Consolas"/>
              </a:rPr>
              <a:t>path("", views.index, name="index"),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47872"/>
            <a:ext cx="4343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A6432A"/>
                </a:solidFill>
                <a:latin typeface="Georgia"/>
              </a:rPr>
              <a:t>1  </a:t>
            </a:r>
            <a:r>
              <a:rPr sz="1250" b="0">
                <a:solidFill>
                  <a:srgbClr val="22211D"/>
                </a:solidFill>
                <a:latin typeface="Georgia"/>
              </a:rPr>
              <a:t>El navegador pide /matricula/.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A6432A"/>
                </a:solidFill>
                <a:latin typeface="Georgia"/>
              </a:rPr>
              <a:t>2  </a:t>
            </a:r>
            <a:r>
              <a:rPr sz="1250" b="0">
                <a:solidFill>
                  <a:srgbClr val="22211D"/>
                </a:solidFill>
                <a:latin typeface="Georgia"/>
              </a:rPr>
              <a:t>Django busca la ruta en urls.py y llama a la vista views.index.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A6432A"/>
                </a:solidFill>
                <a:latin typeface="Georgia"/>
              </a:rPr>
              <a:t>3  </a:t>
            </a:r>
            <a:r>
              <a:rPr sz="1250" b="0">
                <a:solidFill>
                  <a:srgbClr val="22211D"/>
                </a:solidFill>
                <a:latin typeface="Georgia"/>
              </a:rPr>
              <a:t>La vista lee el CSV, calcula los números y los guarda en el diccionario contexto.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A6432A"/>
                </a:solidFill>
                <a:latin typeface="Georgia"/>
              </a:rPr>
              <a:t>4  </a:t>
            </a:r>
            <a:r>
              <a:rPr sz="1250" b="0">
                <a:solidFill>
                  <a:srgbClr val="22211D"/>
                </a:solidFill>
                <a:latin typeface="Georgia"/>
              </a:rPr>
              <a:t>render() le manda el contexto a index.html, que los muestra con {{ total_alumnos }}.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627632"/>
            <a:ext cx="6336792" cy="4023360"/>
          </a:xfrm>
          <a:prstGeom prst="rect">
            <a:avLst/>
          </a:prstGeom>
          <a:solidFill>
            <a:srgbClr val="201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1700784"/>
            <a:ext cx="6336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98B6F"/>
                </a:solidFill>
                <a:latin typeface="Calibri"/>
              </a:rPr>
              <a:t>matricula/views.py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975104"/>
            <a:ext cx="606247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F7F4EC"/>
                </a:solidFill>
                <a:latin typeface="Consolas"/>
              </a:rPr>
              <a:t>def index(request):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datos = pd.read_csv(RUTA_DATOS)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anio_inicial = datos["anio"].min()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anio_final = datos["anio"].max()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8C8577"/>
                </a:solidFill>
                <a:latin typeface="Consolas"/>
              </a:rPr>
              <a:t>    # nos quedamos solo con el ultimo año pa los</a:t>
            </a:r>
          </a:p>
          <a:p>
            <a:r>
              <a:rPr sz="1050">
                <a:solidFill>
                  <a:srgbClr val="8C8577"/>
                </a:solidFill>
                <a:latin typeface="Consolas"/>
              </a:rPr>
              <a:t>    # numeritos de las tarjetas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ultimo = datos[datos["anio"] == anio_final]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total_alumnos = ultimo["matricula"].sum()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total_establecimientos = ultimo["establecimientos"].sum()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total_comunas = len(ultimo["comuna"].unique())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contexto = {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    "anio_inicial": anio_inicial,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    "anio_final": anio_final,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    "total_alumnos": miles(total_alumnos),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    "total_establecimientos": miles(total_establecimientos),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    "total_comunas": total_comunas,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}</a:t>
            </a:r>
          </a:p>
          <a:p>
            <a:r>
              <a:rPr sz="1050">
                <a:solidFill>
                  <a:srgbClr val="F7F4EC"/>
                </a:solidFill>
                <a:latin typeface="Consolas"/>
              </a:rPr>
              <a:t>    return render(request, "matricula/index.html", contexto)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M e n 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Menú con dos desplegables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05  /  15</a:t>
            </a:r>
          </a:p>
        </p:txBody>
      </p:sp>
      <p:pic>
        <p:nvPicPr>
          <p:cNvPr id="8" name="Picture 7" descr="menu1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0000"/>
            <a:ext cx="6492240" cy="2471423"/>
          </a:xfrm>
          <a:prstGeom prst="rect">
            <a:avLst/>
          </a:prstGeom>
          <a:ln>
            <a:solidFill>
              <a:srgbClr val="DDD6C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315200" y="1828800"/>
            <a:ext cx="15875" cy="4114800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6432A"/>
                </a:solidFill>
                <a:latin typeface="Calibri"/>
              </a:rPr>
              <a:t>L E C T U R A S   C L A V 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121408"/>
            <a:ext cx="411480" cy="25400"/>
          </a:xfrm>
          <a:prstGeom prst="rect">
            <a:avLst/>
          </a:prstGeom>
          <a:solidFill>
            <a:srgbClr val="A6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01  </a:t>
            </a:r>
            <a:r>
              <a:rPr sz="1350" b="0">
                <a:solidFill>
                  <a:srgbClr val="22211D"/>
                </a:solidFill>
                <a:latin typeface="Georgia"/>
              </a:rPr>
              <a:t>La barra superior tiene Inicio y dos menús desplegables: Listados de datos y Gráficos.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02  </a:t>
            </a:r>
            <a:r>
              <a:rPr sz="1350" b="0">
                <a:solidFill>
                  <a:srgbClr val="22211D"/>
                </a:solidFill>
                <a:latin typeface="Georgia"/>
              </a:rPr>
              <a:t>«Listados de datos» abre las tres tablas.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03  </a:t>
            </a:r>
            <a:r>
              <a:rPr sz="1350" b="0">
                <a:solidFill>
                  <a:srgbClr val="22211D"/>
                </a:solidFill>
                <a:latin typeface="Georgia"/>
              </a:rPr>
              <a:t>«Gráficos» abre los cuatro gráficos: barras, líneas, dispersión y circular (siguiente lámina).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M e n 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Desplegable de gráficos y navegación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06  /  15</a:t>
            </a:r>
          </a:p>
        </p:txBody>
      </p:sp>
      <p:pic>
        <p:nvPicPr>
          <p:cNvPr id="8" name="Picture 7" descr="menu2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0000"/>
            <a:ext cx="6492240" cy="2471423"/>
          </a:xfrm>
          <a:prstGeom prst="rect">
            <a:avLst/>
          </a:prstGeom>
          <a:ln>
            <a:solidFill>
              <a:srgbClr val="DDD6C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315200" y="1828800"/>
            <a:ext cx="15875" cy="4114800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6432A"/>
                </a:solidFill>
                <a:latin typeface="Calibri"/>
              </a:rPr>
              <a:t>L E C T U R A S   C L A V 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121408"/>
            <a:ext cx="411480" cy="25400"/>
          </a:xfrm>
          <a:prstGeom prst="rect">
            <a:avLst/>
          </a:prstGeom>
          <a:solidFill>
            <a:srgbClr val="A6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01  </a:t>
            </a:r>
            <a:r>
              <a:rPr sz="1350" b="0">
                <a:solidFill>
                  <a:srgbClr val="22211D"/>
                </a:solidFill>
                <a:latin typeface="Georgia"/>
              </a:rPr>
              <a:t>Cada opción es un enlace {% url %} que apunta a una ruta con nombre en urls.py.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02  </a:t>
            </a:r>
            <a:r>
              <a:rPr sz="1350" b="0">
                <a:solidFill>
                  <a:srgbClr val="22211D"/>
                </a:solidFill>
                <a:latin typeface="Georgia"/>
              </a:rPr>
              <a:t>El menú está en menu.html y se incluye en base.html, por eso aparece en todas las páginas.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03  </a:t>
            </a:r>
            <a:r>
              <a:rPr sz="1350" b="0">
                <a:solidFill>
                  <a:srgbClr val="22211D"/>
                </a:solidFill>
                <a:latin typeface="Georgia"/>
              </a:rPr>
              <a:t>En celular el menú se colapsa en un botón (navbar de Bootstrap).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L i s t a d o   1   d e   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Matrícula nacional por año y dependencia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07  /  15</a:t>
            </a:r>
          </a:p>
        </p:txBody>
      </p:sp>
      <p:pic>
        <p:nvPicPr>
          <p:cNvPr id="8" name="Picture 7" descr="listado1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0000"/>
            <a:ext cx="6492240" cy="3151065"/>
          </a:xfrm>
          <a:prstGeom prst="rect">
            <a:avLst/>
          </a:prstGeom>
          <a:ln>
            <a:solidFill>
              <a:srgbClr val="DDD6C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315200" y="1828800"/>
            <a:ext cx="15875" cy="4114800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6432A"/>
                </a:solidFill>
                <a:latin typeface="Calibri"/>
              </a:rPr>
              <a:t>L E C T U R A S   C L A V 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121408"/>
            <a:ext cx="411480" cy="25400"/>
          </a:xfrm>
          <a:prstGeom prst="rect">
            <a:avLst/>
          </a:prstGeom>
          <a:solidFill>
            <a:srgbClr val="A6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01  </a:t>
            </a:r>
            <a:r>
              <a:rPr sz="1350" b="0">
                <a:solidFill>
                  <a:srgbClr val="22211D"/>
                </a:solidFill>
                <a:latin typeface="Georgia"/>
              </a:rPr>
              <a:t>Alumnos matriculados cada año (2019–2025) según la dependencia del colegio.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02  </a:t>
            </a:r>
            <a:r>
              <a:rPr sz="1350" b="0">
                <a:solidFill>
                  <a:srgbClr val="22211D"/>
                </a:solidFill>
                <a:latin typeface="Georgia"/>
              </a:rPr>
              <a:t>La matrícula total del país baja de 3.623.883 a 3.541.783 alumnos (−2,3 %).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03  </a:t>
            </a:r>
            <a:r>
              <a:rPr sz="1350" b="0">
                <a:solidFill>
                  <a:srgbClr val="22211D"/>
                </a:solidFill>
                <a:latin typeface="Georgia"/>
              </a:rPr>
              <a:t>Municipal baja y SLEP sube: es el traspaso de colegios, no solo alumnos que se van.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L i s t a d o   2   d e   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Comunas con mayor caída de la matrícula pública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08  /  15</a:t>
            </a:r>
          </a:p>
        </p:txBody>
      </p:sp>
      <p:pic>
        <p:nvPicPr>
          <p:cNvPr id="8" name="Picture 7" descr="listado2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21" y="1680000"/>
            <a:ext cx="6056157" cy="4500000"/>
          </a:xfrm>
          <a:prstGeom prst="rect">
            <a:avLst/>
          </a:prstGeom>
          <a:ln>
            <a:solidFill>
              <a:srgbClr val="DDD6C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315200" y="1828800"/>
            <a:ext cx="15875" cy="4114800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6432A"/>
                </a:solidFill>
                <a:latin typeface="Calibri"/>
              </a:rPr>
              <a:t>L E C T U R A S   C L A V 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121408"/>
            <a:ext cx="411480" cy="25400"/>
          </a:xfrm>
          <a:prstGeom prst="rect">
            <a:avLst/>
          </a:prstGeom>
          <a:solidFill>
            <a:srgbClr val="A6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01  </a:t>
            </a:r>
            <a:r>
              <a:rPr sz="1350" b="0">
                <a:solidFill>
                  <a:srgbClr val="22211D"/>
                </a:solidFill>
                <a:latin typeface="Georgia"/>
              </a:rPr>
              <a:t>Las 15 comunas que más alumnos perdieron en la pública (municipal + SLEP) entre 2019 y 2025.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02  </a:t>
            </a:r>
            <a:r>
              <a:rPr sz="1350" b="0">
                <a:solidFill>
                  <a:srgbClr val="22211D"/>
                </a:solidFill>
                <a:latin typeface="Georgia"/>
              </a:rPr>
              <a:t>Santiago encabeza la lista con 6.478 alumnos menos (−19,7 %).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03  </a:t>
            </a:r>
            <a:r>
              <a:rPr sz="1350" b="0">
                <a:solidFill>
                  <a:srgbClr val="22211D"/>
                </a:solidFill>
                <a:latin typeface="Georgia"/>
              </a:rPr>
              <a:t>Talcahuano tiene la mayor caída porcentual del top: −30,8 %.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L i s t a d o   3   d e   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Matrícula por región (2025)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09  /  15</a:t>
            </a:r>
          </a:p>
        </p:txBody>
      </p:sp>
      <p:pic>
        <p:nvPicPr>
          <p:cNvPr id="8" name="Picture 7" descr="listado3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68" y="1680000"/>
            <a:ext cx="5603463" cy="4500000"/>
          </a:xfrm>
          <a:prstGeom prst="rect">
            <a:avLst/>
          </a:prstGeom>
          <a:ln>
            <a:solidFill>
              <a:srgbClr val="DDD6C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315200" y="1828800"/>
            <a:ext cx="15875" cy="4114800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6432A"/>
                </a:solidFill>
                <a:latin typeface="Calibri"/>
              </a:rPr>
              <a:t>L E C T U R A S   C L A V 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121408"/>
            <a:ext cx="411480" cy="25400"/>
          </a:xfrm>
          <a:prstGeom prst="rect">
            <a:avLst/>
          </a:prstGeom>
          <a:solidFill>
            <a:srgbClr val="A6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01  </a:t>
            </a:r>
            <a:r>
              <a:rPr sz="1350" b="0">
                <a:solidFill>
                  <a:srgbClr val="22211D"/>
                </a:solidFill>
                <a:latin typeface="Georgia"/>
              </a:rPr>
              <a:t>Por región: establecimientos, rurales, matrícula, % del país y % en educación pública.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02  </a:t>
            </a:r>
            <a:r>
              <a:rPr sz="1350" b="0">
                <a:solidFill>
                  <a:srgbClr val="22211D"/>
                </a:solidFill>
                <a:latin typeface="Georgia"/>
              </a:rPr>
              <a:t>La Metropolitana tiene el 37,7 % de los alumnos del país, pero solo el 25 % de ellos va a la pública.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03  </a:t>
            </a:r>
            <a:r>
              <a:rPr sz="1350" b="0">
                <a:solidFill>
                  <a:srgbClr val="22211D"/>
                </a:solidFill>
                <a:latin typeface="Georgia"/>
              </a:rPr>
              <a:t>Atacama (61,8 %) y Antofagasta (55,1 %) son las regiones más dependientes de la educación pública.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G r á f i c o   d e   b a r r a 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Matrícula por región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10  /  15</a:t>
            </a:r>
          </a:p>
        </p:txBody>
      </p:sp>
      <p:pic>
        <p:nvPicPr>
          <p:cNvPr id="8" name="Picture 7" descr="grafico1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33" y="1680000"/>
            <a:ext cx="5503133" cy="4500000"/>
          </a:xfrm>
          <a:prstGeom prst="rect">
            <a:avLst/>
          </a:prstGeom>
          <a:ln>
            <a:solidFill>
              <a:srgbClr val="DDD6C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315200" y="1828800"/>
            <a:ext cx="15875" cy="4114800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6432A"/>
                </a:solidFill>
                <a:latin typeface="Calibri"/>
              </a:rPr>
              <a:t>L E C T U R A S   C L A V 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121408"/>
            <a:ext cx="411480" cy="25400"/>
          </a:xfrm>
          <a:prstGeom prst="rect">
            <a:avLst/>
          </a:prstGeom>
          <a:solidFill>
            <a:srgbClr val="A6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01  </a:t>
            </a:r>
            <a:r>
              <a:rPr sz="1350" b="0">
                <a:solidFill>
                  <a:srgbClr val="22211D"/>
                </a:solidFill>
                <a:latin typeface="Georgia"/>
              </a:rPr>
              <a:t>Barras horizontales ordenadas: se compara de un vistazo el tamaño de cada región.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02  </a:t>
            </a:r>
            <a:r>
              <a:rPr sz="1350" b="0">
                <a:solidFill>
                  <a:srgbClr val="22211D"/>
                </a:solidFill>
                <a:latin typeface="Georgia"/>
              </a:rPr>
              <a:t>La Región Metropolitana concentra cerca de 4 de cada 10 alumnos.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03  </a:t>
            </a:r>
            <a:r>
              <a:rPr sz="1350" b="0">
                <a:solidFill>
                  <a:srgbClr val="22211D"/>
                </a:solidFill>
                <a:latin typeface="Georgia"/>
              </a:rPr>
              <a:t>Aysén y Magallanes son las regiones con menos matrícula.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G r á f i c o   d e   l í n e a 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Evolución de la matrícula por dependencia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11  /  15</a:t>
            </a:r>
          </a:p>
        </p:txBody>
      </p:sp>
      <p:pic>
        <p:nvPicPr>
          <p:cNvPr id="8" name="Picture 7" descr="grafico2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52" y="1680000"/>
            <a:ext cx="6165496" cy="4500000"/>
          </a:xfrm>
          <a:prstGeom prst="rect">
            <a:avLst/>
          </a:prstGeom>
          <a:ln>
            <a:solidFill>
              <a:srgbClr val="DDD6C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315200" y="1828800"/>
            <a:ext cx="15875" cy="4114800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6432A"/>
                </a:solidFill>
                <a:latin typeface="Calibri"/>
              </a:rPr>
              <a:t>L E C T U R A S   C L A V 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121408"/>
            <a:ext cx="411480" cy="25400"/>
          </a:xfrm>
          <a:prstGeom prst="rect">
            <a:avLst/>
          </a:prstGeom>
          <a:solidFill>
            <a:srgbClr val="A6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01  </a:t>
            </a:r>
            <a:r>
              <a:rPr sz="1350" b="0">
                <a:solidFill>
                  <a:srgbClr val="22211D"/>
                </a:solidFill>
                <a:latin typeface="Georgia"/>
              </a:rPr>
              <a:t>Una línea por dependencia entre 2019 y 2025, más una punteada con la pública completa.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02  </a:t>
            </a:r>
            <a:r>
              <a:rPr sz="1350" b="0">
                <a:solidFill>
                  <a:srgbClr val="22211D"/>
                </a:solidFill>
                <a:latin typeface="Georgia"/>
              </a:rPr>
              <a:t>La línea municipal cae fuerte y la SLEP sube: son los traspasos.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03  </a:t>
            </a:r>
            <a:r>
              <a:rPr sz="1350" b="0">
                <a:solidFill>
                  <a:srgbClr val="22211D"/>
                </a:solidFill>
                <a:latin typeface="Georgia"/>
              </a:rPr>
              <a:t>Sumando ambas, la caída real de la pública es mucho menor que la que muestra solo lo municipal.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G r á f i c o   d e   d i s p e r s i ó 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Peso de la pública vs. variación de matrícula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12  /  15</a:t>
            </a:r>
          </a:p>
        </p:txBody>
      </p:sp>
      <p:pic>
        <p:nvPicPr>
          <p:cNvPr id="8" name="Picture 7" descr="grafico3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91" y="1680000"/>
            <a:ext cx="5345217" cy="4500000"/>
          </a:xfrm>
          <a:prstGeom prst="rect">
            <a:avLst/>
          </a:prstGeom>
          <a:ln>
            <a:solidFill>
              <a:srgbClr val="DDD6C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315200" y="1828800"/>
            <a:ext cx="15875" cy="4114800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6432A"/>
                </a:solidFill>
                <a:latin typeface="Calibri"/>
              </a:rPr>
              <a:t>L E C T U R A S   C L A V 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121408"/>
            <a:ext cx="411480" cy="25400"/>
          </a:xfrm>
          <a:prstGeom prst="rect">
            <a:avLst/>
          </a:prstGeom>
          <a:solidFill>
            <a:srgbClr val="A6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01  </a:t>
            </a:r>
            <a:r>
              <a:rPr sz="1350" b="0">
                <a:solidFill>
                  <a:srgbClr val="22211D"/>
                </a:solidFill>
                <a:latin typeface="Georgia"/>
              </a:rPr>
              <a:t>Cada punto es una comuna (≥ 1.000 alumnos); el tamaño indica cuántos alumnos tiene.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02  </a:t>
            </a:r>
            <a:r>
              <a:rPr sz="1350" b="0">
                <a:solidFill>
                  <a:srgbClr val="22211D"/>
                </a:solidFill>
                <a:latin typeface="Georgia"/>
              </a:rPr>
              <a:t>154 de 292 comunas perdieron alumnos entre 2019 y 2025.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03  </a:t>
            </a:r>
            <a:r>
              <a:rPr sz="1350" b="0">
                <a:solidFill>
                  <a:srgbClr val="22211D"/>
                </a:solidFill>
                <a:latin typeface="Georgia"/>
              </a:rPr>
              <a:t>Correlación 0,29: las comunas más «públicas» no son las que más pierden; las grandes y urbanas bajan más.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S o f t w a r e   D j a n g o     —     G r á f i c o   c i r c u l a 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22211D"/>
                </a:solidFill>
                <a:latin typeface="Georgia"/>
              </a:rPr>
              <a:t>Distribución por dependencia (2025)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13  /  15</a:t>
            </a:r>
          </a:p>
        </p:txBody>
      </p:sp>
      <p:pic>
        <p:nvPicPr>
          <p:cNvPr id="8" name="Picture 7" descr="grafico4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15" y="1680000"/>
            <a:ext cx="5623970" cy="4500000"/>
          </a:xfrm>
          <a:prstGeom prst="rect">
            <a:avLst/>
          </a:prstGeom>
          <a:ln>
            <a:solidFill>
              <a:srgbClr val="DDD6C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315200" y="1828800"/>
            <a:ext cx="15875" cy="4114800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6432A"/>
                </a:solidFill>
                <a:latin typeface="Calibri"/>
              </a:rPr>
              <a:t>L E C T U R A S   C L A V 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121408"/>
            <a:ext cx="411480" cy="25400"/>
          </a:xfrm>
          <a:prstGeom prst="rect">
            <a:avLst/>
          </a:prstGeom>
          <a:solidFill>
            <a:srgbClr val="A6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331720"/>
            <a:ext cx="4053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01  </a:t>
            </a:r>
            <a:r>
              <a:rPr sz="1350" b="0">
                <a:solidFill>
                  <a:srgbClr val="22211D"/>
                </a:solidFill>
                <a:latin typeface="Georgia"/>
              </a:rPr>
              <a:t>Cómo se reparten los 3.541.783 alumnos de 2025.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02  </a:t>
            </a:r>
            <a:r>
              <a:rPr sz="1350" b="0">
                <a:solidFill>
                  <a:srgbClr val="22211D"/>
                </a:solidFill>
                <a:latin typeface="Georgia"/>
              </a:rPr>
              <a:t>La particular subvencionada concentra más de la mitad (53,9 %).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A6432A"/>
                </a:solidFill>
                <a:latin typeface="Georgia"/>
              </a:rPr>
              <a:t>03  </a:t>
            </a:r>
            <a:r>
              <a:rPr sz="1350" b="0">
                <a:solidFill>
                  <a:srgbClr val="22211D"/>
                </a:solidFill>
                <a:latin typeface="Georgia"/>
              </a:rPr>
              <a:t>La pública (municipal + SLEP) suma el 35,0 %; la particular pagada, cerca del 10 %.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C i e r r 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22211D"/>
                </a:solidFill>
                <a:latin typeface="Georgia"/>
              </a:rPr>
              <a:t>Conclusión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14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911535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A6432A"/>
                </a:solidFill>
                <a:latin typeface="Calibri"/>
              </a:rPr>
              <a:t>— </a:t>
            </a:r>
            <a:r>
              <a:rPr sz="1800" b="0">
                <a:solidFill>
                  <a:srgbClr val="22211D"/>
                </a:solidFill>
                <a:latin typeface="Calibri"/>
              </a:rPr>
              <a:t>Pasamos el análisis del Certamen 1 a una aplicación web en Django: menú con dos desplegables, 3 listados y 4 gráficos, cada uno con su explicación.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A6432A"/>
                </a:solidFill>
                <a:latin typeface="Calibri"/>
              </a:rPr>
              <a:t>— </a:t>
            </a:r>
            <a:r>
              <a:rPr sz="1800" b="0">
                <a:solidFill>
                  <a:srgbClr val="22211D"/>
                </a:solidFill>
                <a:latin typeface="Calibri"/>
              </a:rPr>
              <a:t>Todos los datos se calculan en las vistas y se envían a las plantillas HTML; no hay números escritos a mano en el HTML.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A6432A"/>
                </a:solidFill>
                <a:latin typeface="Calibri"/>
              </a:rPr>
              <a:t>— </a:t>
            </a:r>
            <a:r>
              <a:rPr sz="1800" b="0">
                <a:solidFill>
                  <a:srgbClr val="22211D"/>
                </a:solidFill>
                <a:latin typeface="Calibri"/>
              </a:rPr>
              <a:t>Lo que muestran los datos: la matrícula total cae poco (−2,3 %), pero la pública pierde alumnos y las comunas urbanas grandes son las más golpeadas.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A6432A"/>
                </a:solidFill>
                <a:latin typeface="Calibri"/>
              </a:rPr>
              <a:t>— </a:t>
            </a:r>
            <a:r>
              <a:rPr sz="1800" b="0">
                <a:solidFill>
                  <a:srgbClr val="22211D"/>
                </a:solidFill>
                <a:latin typeface="Calibri"/>
              </a:rPr>
              <a:t>Siguiente paso (Unidad 3): datos dinámicos que se actualicen solos desde un CSV o una base de datos.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A6432A"/>
                </a:solidFill>
                <a:latin typeface="Calibri"/>
              </a:rPr>
              <a:t>C i e r r 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22211D"/>
                </a:solidFill>
                <a:latin typeface="Georgia"/>
              </a:rPr>
              <a:t>Bibliografía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11535" cy="15875"/>
          </a:xfrm>
          <a:prstGeom prst="rect">
            <a:avLst/>
          </a:prstGeom>
          <a:solidFill>
            <a:srgbClr val="2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938E80"/>
                </a:solidFill>
                <a:latin typeface="Calibri"/>
              </a:rPr>
              <a:t>E D U M A 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1">
                <a:solidFill>
                  <a:srgbClr val="A6432A"/>
                </a:solidFill>
                <a:latin typeface="Calibri"/>
              </a:rPr>
              <a:t>15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911535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 b="0">
                <a:solidFill>
                  <a:srgbClr val="A6432A"/>
                </a:solidFill>
                <a:latin typeface="Calibri"/>
              </a:rPr>
              <a:t>— </a:t>
            </a:r>
            <a:r>
              <a:rPr sz="1450" b="0">
                <a:solidFill>
                  <a:srgbClr val="22211D"/>
                </a:solidFill>
                <a:latin typeface="Calibri"/>
              </a:rPr>
              <a:t>Ministerio de Educación de Chile (2025). Resumen de matrícula por establecimiento educacional [Conjunto de datos]. Centro de Estudios Mineduc, Datos Abiertos. https://datosabiertos.mineduc.cl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A6432A"/>
                </a:solidFill>
                <a:latin typeface="Calibri"/>
              </a:rPr>
              <a:t>— </a:t>
            </a:r>
            <a:r>
              <a:rPr sz="1450" b="0">
                <a:solidFill>
                  <a:srgbClr val="22211D"/>
                </a:solidFill>
                <a:latin typeface="Calibri"/>
              </a:rPr>
              <a:t>Django Software Foundation (2025). Django documentation (versión 5.1). https://docs.djangoproject.com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A6432A"/>
                </a:solidFill>
                <a:latin typeface="Calibri"/>
              </a:rPr>
              <a:t>— </a:t>
            </a:r>
            <a:r>
              <a:rPr sz="1450" b="0">
                <a:solidFill>
                  <a:srgbClr val="22211D"/>
                </a:solidFill>
                <a:latin typeface="Calibri"/>
              </a:rPr>
              <a:t>Bootstrap (2025). Bootstrap 5.3 documentation. https://getbootstrap.com/docs/5.3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A6432A"/>
                </a:solidFill>
                <a:latin typeface="Calibri"/>
              </a:rPr>
              <a:t>— </a:t>
            </a:r>
            <a:r>
              <a:rPr sz="1450" b="0">
                <a:solidFill>
                  <a:srgbClr val="22211D"/>
                </a:solidFill>
                <a:latin typeface="Calibri"/>
              </a:rPr>
              <a:t>Hunter, J. D. (2007). Matplotlib: A 2D graphics environment. Computing in Science &amp; Engineering, 9(3), 90–95.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A6432A"/>
                </a:solidFill>
                <a:latin typeface="Calibri"/>
              </a:rPr>
              <a:t>— </a:t>
            </a:r>
            <a:r>
              <a:rPr sz="1450" b="0">
                <a:solidFill>
                  <a:srgbClr val="22211D"/>
                </a:solidFill>
                <a:latin typeface="Calibri"/>
              </a:rPr>
              <a:t>The pandas development team (2024). pandas documentation. https://pandas.pydata.org/docs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A6432A"/>
                </a:solidFill>
                <a:latin typeface="Calibri"/>
              </a:rPr>
              <a:t>— </a:t>
            </a:r>
            <a:r>
              <a:rPr sz="1450" b="0">
                <a:solidFill>
                  <a:srgbClr val="22211D"/>
                </a:solidFill>
                <a:latin typeface="Calibri"/>
              </a:rPr>
              <a:t>Toalombo Montero, M. P., Toalombo Montero, O. W., Ballestero Torres, F. A., Hernández Dávila, C. A., &amp; Ruiz Sarzosa, J. P. (2024). Visualización de datos educativos y sociales con Python. Editorial Investigativa Latinoamericana (SciELa).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1929</Words>
  <Application>Microsoft Office PowerPoint</Application>
  <PresentationFormat>Panorámica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Callejas</cp:lastModifiedBy>
  <cp:revision>2</cp:revision>
  <dcterms:created xsi:type="dcterms:W3CDTF">2013-01-27T09:14:16Z</dcterms:created>
  <dcterms:modified xsi:type="dcterms:W3CDTF">2026-10-26T11:27:29Z</dcterms:modified>
  <cp:category/>
</cp:coreProperties>
</file>